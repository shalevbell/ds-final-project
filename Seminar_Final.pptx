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" y="182880"/>
            <a:ext cx="8321040" cy="822960"/>
          </a:xfrm>
        </p:spPr>
        <p:txBody>
          <a:bodyPr wrap="square"/>
          <a:lstStyle/>
          <a:p>
            <a:pPr algn="l"/>
            <a:r>
              <a:rPr b="1" sz="3600">
                <a:solidFill>
                  <a:srgbClr val="FFFFFF"/>
                </a:solidFill>
                <a:latin typeface="Calibri"/>
              </a:rPr>
              <a:t>Why Larger Language Models Do In-context Learning Differently?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2920" y="1828800"/>
            <a:ext cx="8138160" cy="2743200"/>
          </a:xfrm>
        </p:spPr>
        <p:txBody>
          <a:bodyPr/>
          <a:lstStyle/>
          <a:p>
            <a:pPr algn="l">
              <a:lnSpc>
                <a:spcPct val="115000"/>
              </a:lnSpc>
            </a:pPr>
            <a:r>
              <a:rPr sz="2200">
                <a:solidFill>
                  <a:srgbClr val="1F2937"/>
                </a:solidFill>
                <a:latin typeface="Calibri"/>
              </a:rPr>
              <a:t>Graduate Data Science Seminar (2026)</a:t>
            </a:r>
          </a:p>
          <a:p>
            <a:pPr algn="l">
              <a:lnSpc>
                <a:spcPct val="115000"/>
              </a:lnSpc>
            </a:pPr>
            <a:r>
              <a:rPr sz="2200">
                <a:solidFill>
                  <a:srgbClr val="1F2937"/>
                </a:solidFill>
                <a:latin typeface="Calibri"/>
              </a:rPr>
              <a:t>Theoretical Analysis of Scale and Noise Sensitivity in ICL</a:t>
            </a:r>
          </a:p>
          <a:p>
            <a:pPr algn="l">
              <a:lnSpc>
                <a:spcPct val="115000"/>
              </a:lnSpc>
            </a:pPr>
            <a:r>
              <a:rPr sz="2200">
                <a:solidFill>
                  <a:srgbClr val="1F2937"/>
                </a:solidFill>
                <a:latin typeface="Calibri"/>
              </a:rPr>
              <a:t>Presented by: [Your Names]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144000" cy="54864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82880"/>
            <a:ext cx="8321040" cy="822960"/>
          </a:xfrm>
        </p:spPr>
        <p:txBody>
          <a:bodyPr wrap="square"/>
          <a:lstStyle/>
          <a:p>
            <a:pPr algn="l"/>
            <a:r>
              <a:rPr b="1" sz="3600">
                <a:solidFill>
                  <a:srgbClr val="FFFFFF"/>
                </a:solidFill>
                <a:latin typeface="Calibri"/>
              </a:rPr>
              <a:t>About the Authors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463040"/>
            <a:ext cx="8138160" cy="4892040"/>
          </a:xfrm>
        </p:spPr>
        <p:txBody>
          <a:bodyPr wrap="square"/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Zhenmei Shi (UW-Madison): PhD researcher in theoretical machine learning and optimization.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Junyi Wei (UW-Madison): Researcher on transformer behavior, in-context learning, and scaling effects.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Co-authors: Zhuoyan Xu and Yingyu Liang (UW-Madison / HKU collaboration).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Paper venue: ICML 2024 (PMLR 235). Focus: understanding why scale changes ICL robustness.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144000" cy="54864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82880"/>
            <a:ext cx="8321040" cy="822960"/>
          </a:xfrm>
        </p:spPr>
        <p:txBody>
          <a:bodyPr wrap="square"/>
          <a:lstStyle/>
          <a:p>
            <a:pPr algn="l"/>
            <a:r>
              <a:rPr b="1" sz="3600">
                <a:solidFill>
                  <a:srgbClr val="FFFFFF"/>
                </a:solidFill>
                <a:latin typeface="Calibri"/>
              </a:rPr>
              <a:t>Problem Statement: Scale vs. Robustness in ICL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463040"/>
            <a:ext cx="8138160" cy="4892040"/>
          </a:xfrm>
        </p:spPr>
        <p:txBody>
          <a:bodyPr wrap="square"/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In-context learning (ICL): models infer tasks from prompt examples without parameter updates.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Empirical puzzle: larger LLMs are often more sensitive to noisy or irrelevant context.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Observed failure mode: added distractors can degrade large-model predictions more sharply.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Central question: Why does increasing model scale increase noise sensitivity during ICL?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144000" cy="54864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82880"/>
            <a:ext cx="8321040" cy="822960"/>
          </a:xfrm>
        </p:spPr>
        <p:txBody>
          <a:bodyPr wrap="square"/>
          <a:lstStyle/>
          <a:p>
            <a:pPr algn="l"/>
            <a:r>
              <a:rPr b="1" sz="3600">
                <a:solidFill>
                  <a:srgbClr val="FFFFFF"/>
                </a:solidFill>
                <a:latin typeface="Calibri"/>
              </a:rPr>
              <a:t>Related Work and Gap in the Literature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463040"/>
            <a:ext cx="8138160" cy="4892040"/>
          </a:xfrm>
        </p:spPr>
        <p:txBody>
          <a:bodyPr wrap="square"/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Prior ICL theory often studies linear settings or 'transformers as implicit optimizers'.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Mechanistic work explains capabilities, but less often explains scale-dependent fragility.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Empirical papers report noise sensitivity trends, yet lack closed-form causal explanations.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Gap addressed here: a theorem-backed account linking capacity, feature coverage, and distraction.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144000" cy="54864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82880"/>
            <a:ext cx="8321040" cy="822960"/>
          </a:xfrm>
        </p:spPr>
        <p:txBody>
          <a:bodyPr wrap="square"/>
          <a:lstStyle/>
          <a:p>
            <a:pPr algn="l"/>
            <a:r>
              <a:rPr b="1" sz="3600">
                <a:solidFill>
                  <a:srgbClr val="FFFFFF"/>
                </a:solidFill>
                <a:latin typeface="Calibri"/>
              </a:rPr>
              <a:t>Key Innovative Concept: Filters vs. Absorbers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463040"/>
            <a:ext cx="8138160" cy="4892040"/>
          </a:xfrm>
        </p:spPr>
        <p:txBody>
          <a:bodyPr wrap="square"/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F2937"/>
                </a:solidFill>
                <a:latin typeface="Calibri"/>
              </a:rPr>
              <a:t>Small models behave as feature filters: they prioritize dominant, high-signal directions.</a:t>
            </a:r>
          </a:p>
          <a:p>
            <a:pPr lvl="1"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Result: stronger robustness, since weak/noisy features are often ignored.</a:t>
            </a:r>
          </a:p>
          <a:p>
            <a:pPr algn="l">
              <a:lnSpc>
                <a:spcPct val="115000"/>
              </a:lnSpc>
            </a:pPr>
            <a:r>
              <a:rPr sz="2100" b="1">
                <a:solidFill>
                  <a:srgbClr val="1F2937"/>
                </a:solidFill>
                <a:latin typeface="Calibri"/>
              </a:rPr>
              <a:t>Large models behave as feature absorbers: they fit a broader set of latent features.</a:t>
            </a:r>
          </a:p>
          <a:p>
            <a:pPr lvl="1"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Result: better clean-data fit but higher risk of attending to irrelevant/noisy cues.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144000" cy="54864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82880"/>
            <a:ext cx="8321040" cy="822960"/>
          </a:xfrm>
        </p:spPr>
        <p:txBody>
          <a:bodyPr wrap="square"/>
          <a:lstStyle/>
          <a:p>
            <a:pPr algn="l"/>
            <a:r>
              <a:rPr b="1" sz="3600">
                <a:solidFill>
                  <a:srgbClr val="FFFFFF"/>
                </a:solidFill>
                <a:latin typeface="Calibri"/>
              </a:rPr>
              <a:t>Theoretical Setting 1: Linear Transformers (Do Not Skip Math)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463040"/>
            <a:ext cx="8138160" cy="4892040"/>
          </a:xfrm>
        </p:spPr>
        <p:txBody>
          <a:bodyPr wrap="square"/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Model: one-layer single-head linear self-attention network trained on linear regression tasks.</a:t>
            </a:r>
          </a:p>
          <a:p>
            <a:pPr algn="l">
              <a:lnSpc>
                <a:spcPct val="115000"/>
              </a:lnSpc>
            </a:pPr>
            <a:r>
              <a:rPr sz="2200" b="1">
                <a:solidFill>
                  <a:srgbClr val="800020"/>
                </a:solidFill>
                <a:latin typeface="Calibri"/>
              </a:rPr>
              <a:t>Core Theory (query prediction):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F2937"/>
                </a:solidFill>
                <a:latin typeface="Consolas"/>
              </a:rPr>
              <a:t>   y_hat_(tau,q) = f_LSA,theta(E)_(d+1, N+1)</a:t>
            </a: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1F2937"/>
                </a:solidFill>
                <a:latin typeface="Consolas"/>
              </a:rPr>
              <a:t>   = [ (w_PV_21)^T  w_PV_22 ] (EE^T / rho) [ WKQ_11 ; (w_KQ_21)^T ] x_(tau,q)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Core interpretation of Theorem: increasing effective rank spans more hidden feature directions.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Consequence: wider models reduce clean-prompt bias but increase sensitivity to noisy features.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144000" cy="54864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82880"/>
            <a:ext cx="8321040" cy="822960"/>
          </a:xfrm>
        </p:spPr>
        <p:txBody>
          <a:bodyPr wrap="square"/>
          <a:lstStyle/>
          <a:p>
            <a:pPr algn="l"/>
            <a:r>
              <a:rPr b="1" sz="3600">
                <a:solidFill>
                  <a:srgbClr val="FFFFFF"/>
                </a:solidFill>
                <a:latin typeface="Calibri"/>
              </a:rPr>
              <a:t>Theoretical Setting 2: Parity Classification and Noise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463040"/>
            <a:ext cx="8138160" cy="4892040"/>
          </a:xfrm>
        </p:spPr>
        <p:txBody>
          <a:bodyPr wrap="square"/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Model: two-layer multi-head transformer on sparse parity classification (non-linear data/model).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Finding: more heads increase representational coverage, including spurious prompt correlations.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Small-head regime: selective attention to stable parity-relevant signals.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Large-head regime: stronger fitting of incidental patterns -&gt; larger degradation under noise.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Theoretical message: scale shifts attention allocation, not only raw approximation power.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144000" cy="54864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82880"/>
            <a:ext cx="8321040" cy="822960"/>
          </a:xfrm>
        </p:spPr>
        <p:txBody>
          <a:bodyPr wrap="square"/>
          <a:lstStyle/>
          <a:p>
            <a:pPr algn="l"/>
            <a:r>
              <a:rPr b="1" sz="3600">
                <a:solidFill>
                  <a:srgbClr val="FFFFFF"/>
                </a:solidFill>
                <a:latin typeface="Calibri"/>
              </a:rPr>
              <a:t>Experimental Analysis: Synthetic vs. Real LLMs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463040"/>
            <a:ext cx="8138160" cy="4892040"/>
          </a:xfrm>
        </p:spPr>
        <p:txBody>
          <a:bodyPr wrap="square"/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Synthetic experiments: larger models often win at 0% noise, but accuracy drops faster as noise rises.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Behavioral signature matches theory: broad feature absorption amplifies distraction effects.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Real-model evidence (Llama family, base and chat variants): larger variants show stronger noise sensitivity trends.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Takeaway: scale is not uniformly better when prompt quality is imperfect.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144000" cy="54864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82880"/>
            <a:ext cx="8321040" cy="822960"/>
          </a:xfrm>
        </p:spPr>
        <p:txBody>
          <a:bodyPr wrap="square"/>
          <a:lstStyle/>
          <a:p>
            <a:pPr algn="l"/>
            <a:r>
              <a:rPr b="1" sz="3600">
                <a:solidFill>
                  <a:srgbClr val="FFFFFF"/>
                </a:solidFill>
                <a:latin typeface="Calibri"/>
              </a:rPr>
              <a:t>Our Opinion: Strengths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463040"/>
            <a:ext cx="8138160" cy="4892040"/>
          </a:xfrm>
        </p:spPr>
        <p:txBody>
          <a:bodyPr wrap="square"/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Strength: theorem-driven explanation of a widely observed empirical effect.</a:t>
            </a:r>
          </a:p>
          <a:p>
            <a:pPr lvl="1"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Strength: links stylized theory with practical LLM behavior trends.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Limitation: theoretical settings remain simplified proxies for production LLM pipelines.</a:t>
            </a:r>
          </a:p>
          <a:p>
            <a:pPr lvl="1"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Limitation: effects of instruction tuning, RLHF, and retrieval are not fully modeled.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Assessment: strong mechanism hypothesis, but not yet a complete account of deployed systems.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144000" cy="54864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82880"/>
            <a:ext cx="8321040" cy="822960"/>
          </a:xfrm>
        </p:spPr>
        <p:txBody>
          <a:bodyPr wrap="square"/>
          <a:lstStyle/>
          <a:p>
            <a:pPr algn="l"/>
            <a:r>
              <a:rPr b="1" sz="3600">
                <a:solidFill>
                  <a:srgbClr val="FFFFFF"/>
                </a:solidFill>
                <a:latin typeface="Calibri"/>
              </a:rPr>
              <a:t>Summary and Open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463040"/>
            <a:ext cx="8138160" cy="4892040"/>
          </a:xfrm>
        </p:spPr>
        <p:txBody>
          <a:bodyPr wrap="square"/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Summary: scale changes ICL behavior by changing which features are attended and retained.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Smaller models: robust filtering; larger models: broader fitting with higher noise vulnerability.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Open Q1: Can sparse/selective attention improve robustness at inference time?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Open Q2: How should prompt design adapt to model scale?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1F2937"/>
                </a:solidFill>
                <a:latin typeface="Calibri"/>
              </a:rPr>
              <a:t>Open Q3: Can alignment recover robustness without reducing ICL flexibility?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144000" cy="54864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82880"/>
            <a:ext cx="8321040" cy="822960"/>
          </a:xfrm>
        </p:spPr>
        <p:txBody>
          <a:bodyPr wrap="square"/>
          <a:lstStyle/>
          <a:p>
            <a:pPr algn="l"/>
            <a:r>
              <a:rPr b="1" sz="3600">
                <a:solidFill>
                  <a:srgbClr val="FFFFFF"/>
                </a:solidFill>
                <a:latin typeface="Calibri"/>
              </a:rP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463040"/>
            <a:ext cx="8138160" cy="4892040"/>
          </a:xfrm>
        </p:spPr>
        <p:txBody>
          <a:bodyPr wrap="square"/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F2937"/>
                </a:solidFill>
                <a:latin typeface="Calibri"/>
              </a:rPr>
              <a:t>Thank you for listening.</a:t>
            </a:r>
          </a:p>
          <a:p>
            <a:pPr algn="l">
              <a:lnSpc>
                <a:spcPct val="115000"/>
              </a:lnSpc>
            </a:pPr>
            <a:r>
              <a:rPr sz="2200" b="0">
                <a:solidFill>
                  <a:srgbClr val="1F2937"/>
                </a:solidFill>
                <a:latin typeface="Calibri"/>
              </a:rPr>
              <a:t>Questions, comments, or critiques are welcome.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F2937"/>
                </a:solidFill>
                <a:latin typeface="Calibri"/>
              </a:rPr>
              <a:t>Discussion prompt: Is bigger always better under noisy context?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40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9144000" cy="54864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